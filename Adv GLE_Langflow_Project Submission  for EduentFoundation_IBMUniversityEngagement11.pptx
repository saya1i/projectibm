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83" r:id="rId2"/>
    <p:sldId id="257" r:id="rId3"/>
    <p:sldId id="282" r:id="rId4"/>
    <p:sldId id="285" r:id="rId5"/>
    <p:sldId id="278" r:id="rId6"/>
    <p:sldId id="281" r:id="rId7"/>
    <p:sldId id="262" r:id="rId8"/>
    <p:sldId id="264" r:id="rId9"/>
    <p:sldId id="277" r:id="rId10"/>
    <p:sldId id="286" r:id="rId11"/>
    <p:sldId id="287" r:id="rId12"/>
    <p:sldId id="280" r:id="rId13"/>
    <p:sldId id="288" r:id="rId14"/>
    <p:sldId id="289" r:id="rId15"/>
    <p:sldId id="27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CDCB8-E336-06C9-9BC1-C212CD122CD0}" v="1" dt="2026-06-23T04:41:50.19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50" autoAdjust="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ya1i/projectibm.g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982602353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/>
                        <a:t>Sayali Ramesh Barve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/>
                        <a:t>sayali.barve1505@gmail.com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/>
                        <a:t>9359533125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 smtClean="0">
                <a:highlight>
                  <a:srgbClr val="FFFF00"/>
                </a:highlight>
              </a:rPr>
              <a:t>[Education]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99256" y="588572"/>
            <a:ext cx="11014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 smtClean="0"/>
              <a:t>Smart </a:t>
            </a:r>
            <a:r>
              <a:rPr lang="en-US" sz="2400" b="1" dirty="0"/>
              <a:t>Study Generator </a:t>
            </a:r>
            <a:r>
              <a:rPr lang="en-US" sz="2400" b="1" dirty="0" smtClean="0"/>
              <a:t>Agent</a:t>
            </a:r>
            <a:r>
              <a:rPr lang="en-US" sz="2400" b="1" dirty="0"/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868" y="3604718"/>
            <a:ext cx="1045972" cy="10459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647192" y="617708"/>
            <a:ext cx="1131112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b="1" dirty="0"/>
              <a:t>Problem Statement No.13: Smart Study Generator </a:t>
            </a:r>
            <a:r>
              <a:rPr lang="en-US" sz="1800" b="1" dirty="0" smtClean="0"/>
              <a:t>Agent</a:t>
            </a:r>
            <a:br>
              <a:rPr lang="en-US" sz="1800" b="1" dirty="0" smtClean="0"/>
            </a:br>
            <a:r>
              <a:rPr lang="en-US" sz="1800" b="1" u="sng" dirty="0" smtClean="0"/>
              <a:t>The Challenge</a:t>
            </a:r>
            <a:r>
              <a:rPr lang="en-US" sz="1800" b="1" dirty="0" smtClean="0"/>
              <a:t/>
            </a:r>
            <a:br>
              <a:rPr lang="en-US" sz="1800" b="1" dirty="0" smtClean="0"/>
            </a:br>
            <a:r>
              <a:rPr lang="en-US" sz="1800" b="1" dirty="0" smtClean="0"/>
              <a:t>Students </a:t>
            </a:r>
            <a:r>
              <a:rPr lang="en-US" sz="1800" b="1" dirty="0"/>
              <a:t>today face an overwhelming flood of information-lecture notes, textbooks, </a:t>
            </a:r>
            <a:r>
              <a:rPr lang="en-US" sz="1800" b="1" dirty="0" smtClean="0"/>
              <a:t>research papers</a:t>
            </a:r>
            <a:r>
              <a:rPr lang="en-US" sz="1800" b="1" dirty="0"/>
              <a:t>, YouTube tutorials, and online resources. This content is scattered, unorganized, </a:t>
            </a:r>
            <a:r>
              <a:rPr lang="en-US" sz="1800" b="1" dirty="0" smtClean="0"/>
              <a:t>and often </a:t>
            </a:r>
            <a:r>
              <a:rPr lang="en-US" sz="1800" b="1" dirty="0"/>
              <a:t>not personalized to their learning pace or style. As a result, students struggle with </a:t>
            </a:r>
            <a:r>
              <a:rPr lang="en-US" sz="1800" b="1" dirty="0" smtClean="0"/>
              <a:t>finding the </a:t>
            </a:r>
            <a:r>
              <a:rPr lang="en-US" sz="1800" b="1" dirty="0"/>
              <a:t>right study material, summarizing key concepts, and staying exam-ready. Traditional </a:t>
            </a:r>
            <a:r>
              <a:rPr lang="en-US" sz="1800" b="1" dirty="0" smtClean="0"/>
              <a:t>study tools </a:t>
            </a:r>
            <a:r>
              <a:rPr lang="en-US" sz="1800" b="1" dirty="0"/>
              <a:t>only provide static notes or flashcards, failing to adapt dynamically to student needs. </a:t>
            </a:r>
            <a:r>
              <a:rPr lang="en-US" sz="1800" b="1" dirty="0" smtClean="0"/>
              <a:t>The challenge </a:t>
            </a:r>
            <a:r>
              <a:rPr lang="en-US" sz="1800" b="1" dirty="0"/>
              <a:t>is to move beyond static resources toward an intelligent, adaptive study companion</a:t>
            </a:r>
            <a:r>
              <a:rPr lang="en-US" sz="1800" b="1" dirty="0" smtClean="0"/>
              <a:t>.</a:t>
            </a:r>
            <a:br>
              <a:rPr lang="en-US" sz="1800" b="1" dirty="0" smtClean="0"/>
            </a:br>
            <a:r>
              <a:rPr lang="en-US" sz="1800" b="1" u="sng" dirty="0" smtClean="0"/>
              <a:t>The Objective</a:t>
            </a:r>
            <a:br>
              <a:rPr lang="en-US" sz="1800" b="1" u="sng" dirty="0" smtClean="0"/>
            </a:br>
            <a:r>
              <a:rPr lang="en-US" sz="1800" b="1" dirty="0" smtClean="0"/>
              <a:t>Build </a:t>
            </a:r>
            <a:r>
              <a:rPr lang="en-US" sz="1800" b="1" dirty="0"/>
              <a:t>an agentic AI-powered Smart Study Generator that personalizes and streamlines </a:t>
            </a:r>
            <a:r>
              <a:rPr lang="en-US" sz="1800" b="1" dirty="0" smtClean="0"/>
              <a:t>learning for </a:t>
            </a:r>
            <a:r>
              <a:rPr lang="en-US" sz="1800" b="1" dirty="0"/>
              <a:t>students. The solution should</a:t>
            </a:r>
            <a:r>
              <a:rPr lang="en-US" sz="1800" b="1" dirty="0" smtClean="0"/>
              <a:t>:</a:t>
            </a:r>
            <a:br>
              <a:rPr lang="en-US" sz="1800" b="1" dirty="0" smtClean="0"/>
            </a:br>
            <a:r>
              <a:rPr lang="en-US" sz="1800" b="1" dirty="0" smtClean="0"/>
              <a:t>1</a:t>
            </a:r>
            <a:r>
              <a:rPr lang="en-US" sz="1800" b="1" dirty="0"/>
              <a:t>. Fuse Learning Resources: Aggregate content from class notes, textbooks, </a:t>
            </a:r>
            <a:r>
              <a:rPr lang="en-US" sz="1800" b="1" dirty="0" smtClean="0"/>
              <a:t>research articles</a:t>
            </a:r>
            <a:r>
              <a:rPr lang="en-US" sz="1800" b="1" dirty="0"/>
              <a:t>, and online tutorials into structured, easy-to-digest study material</a:t>
            </a:r>
            <a:r>
              <a:rPr lang="en-US" sz="1800" b="1" dirty="0" smtClean="0"/>
              <a:t>.</a:t>
            </a:r>
            <a:br>
              <a:rPr lang="en-US" sz="1800" b="1" dirty="0" smtClean="0"/>
            </a:br>
            <a:r>
              <a:rPr lang="en-US" sz="1800" b="1" dirty="0" smtClean="0"/>
              <a:t>2</a:t>
            </a:r>
            <a:r>
              <a:rPr lang="en-US" sz="1800" b="1" dirty="0"/>
              <a:t>. Enable Multimodal Input: Allow students to upload notes, voice queries, or images (</a:t>
            </a:r>
            <a:r>
              <a:rPr lang="en-US" sz="1800" b="1" dirty="0" err="1"/>
              <a:t>e.g.,</a:t>
            </a:r>
            <a:r>
              <a:rPr lang="en-US" sz="1800" b="1" dirty="0" err="1" smtClean="0"/>
              <a:t>text</a:t>
            </a:r>
            <a:r>
              <a:rPr lang="en-US" sz="1800" b="1" dirty="0" smtClean="0"/>
              <a:t> book </a:t>
            </a:r>
            <a:r>
              <a:rPr lang="en-US" sz="1800" b="1" dirty="0"/>
              <a:t>pages), and generate concise summaries, flashcards, or concept maps</a:t>
            </a:r>
            <a:r>
              <a:rPr lang="en-US" sz="1800" b="1" dirty="0" smtClean="0"/>
              <a:t>.</a:t>
            </a:r>
            <a:br>
              <a:rPr lang="en-US" sz="1800" b="1" dirty="0" smtClean="0"/>
            </a:br>
            <a:r>
              <a:rPr lang="en-US" sz="1800" b="1" dirty="0" smtClean="0"/>
              <a:t>3</a:t>
            </a:r>
            <a:r>
              <a:rPr lang="en-US" sz="1800" b="1" dirty="0"/>
              <a:t>. Create a Predictive &amp; Agentic Layer: Recommend personalized study plans, </a:t>
            </a:r>
            <a:r>
              <a:rPr lang="en-US" sz="1800" b="1" dirty="0" smtClean="0"/>
              <a:t>highlight important </a:t>
            </a:r>
            <a:r>
              <a:rPr lang="en-US" sz="1800" b="1" dirty="0"/>
              <a:t>topics based on syllabus or past exams, and provide predictive alerts (e.g., "</a:t>
            </a:r>
            <a:r>
              <a:rPr lang="en-US" sz="1800" b="1" dirty="0" smtClean="0"/>
              <a:t>Focus on </a:t>
            </a:r>
            <a:r>
              <a:rPr lang="en-US" sz="1800" b="1" dirty="0"/>
              <a:t>Topic X-frequently asked in exams</a:t>
            </a:r>
            <a:r>
              <a:rPr lang="en-US" sz="1800" b="1" dirty="0" smtClean="0"/>
              <a:t>").</a:t>
            </a:r>
            <a:br>
              <a:rPr lang="en-US" sz="1800" b="1" dirty="0" smtClean="0"/>
            </a:br>
            <a:r>
              <a:rPr lang="en-US" sz="1800" b="1" dirty="0" smtClean="0"/>
              <a:t>4</a:t>
            </a:r>
            <a:r>
              <a:rPr lang="en-US" sz="1800" b="1" dirty="0"/>
              <a:t>. Visualize Study Progress: Offer a real-time dashboard showing learning </a:t>
            </a:r>
            <a:r>
              <a:rPr lang="en-US" sz="1800" b="1" dirty="0" smtClean="0"/>
              <a:t>milestones ,</a:t>
            </a:r>
            <a:r>
              <a:rPr lang="en-US" sz="1800" b="1" dirty="0"/>
              <a:t>weak areas, practice quizzes, and performance forecasts</a:t>
            </a:r>
            <a:r>
              <a:rPr lang="en-US" sz="1800" b="1" dirty="0" smtClean="0"/>
              <a:t>.</a:t>
            </a:r>
            <a:br>
              <a:rPr lang="en-US" sz="1800" b="1" dirty="0" smtClean="0"/>
            </a:br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647192" y="944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461665"/>
            <a:ext cx="10607040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/>
              <a:t>AI-Powered </a:t>
            </a:r>
            <a:r>
              <a:rPr lang="en-US" sz="1800" b="1" dirty="0"/>
              <a:t>Smart Study Generator Agent</a:t>
            </a:r>
            <a:endParaRPr lang="en-US" sz="1800" dirty="0"/>
          </a:p>
          <a:p>
            <a:r>
              <a:rPr lang="en-US" sz="1800" dirty="0"/>
              <a:t>The proposed solution is a </a:t>
            </a:r>
            <a:r>
              <a:rPr lang="en-US" sz="1800" b="1" dirty="0"/>
              <a:t>multi-agent AI-powered Smart Study Generator Agent</a:t>
            </a:r>
            <a:r>
              <a:rPr lang="en-US" sz="1800" dirty="0"/>
              <a:t> built using </a:t>
            </a:r>
            <a:r>
              <a:rPr lang="en-US" sz="1800" b="1" dirty="0"/>
              <a:t>IBM </a:t>
            </a:r>
            <a:r>
              <a:rPr lang="en-US" sz="1800" b="1" dirty="0" err="1"/>
              <a:t>LangFlow</a:t>
            </a:r>
            <a:r>
              <a:rPr lang="en-US" sz="1800" b="1" dirty="0"/>
              <a:t>, IBM watsonx.ai, IBM Granite Models, and IBM Orchestrate</a:t>
            </a:r>
            <a:r>
              <a:rPr lang="en-US" sz="1800" dirty="0"/>
              <a:t> to provide personalized and intelligent learning. The system addresses challenges in organizing study materials, planning revisions, and improving exam preparation through an agentic AI architecture.</a:t>
            </a:r>
          </a:p>
          <a:p>
            <a:r>
              <a:rPr lang="en-US" sz="1800" dirty="0"/>
              <a:t>At its core, the solution uses </a:t>
            </a:r>
            <a:r>
              <a:rPr lang="en-US" sz="1800" b="1" dirty="0"/>
              <a:t>Retrieval-Augmented Generation (RAG)</a:t>
            </a:r>
            <a:r>
              <a:rPr lang="en-US" sz="1800" dirty="0"/>
              <a:t> to retrieve accurate study content from lecture notes, textbooks, research papers, and online resources. The content is stored in a vector database and summarized using Granite Models.</a:t>
            </a:r>
          </a:p>
          <a:p>
            <a:r>
              <a:rPr lang="en-US" sz="1800" dirty="0"/>
              <a:t>The system consists of </a:t>
            </a:r>
            <a:r>
              <a:rPr lang="en-US" sz="1800" b="1" dirty="0"/>
              <a:t>four key agents</a:t>
            </a:r>
            <a:r>
              <a:rPr lang="en-US" sz="1800" dirty="0"/>
              <a:t>:</a:t>
            </a:r>
          </a:p>
          <a:p>
            <a:r>
              <a:rPr lang="en-US" sz="1800" b="1" dirty="0"/>
              <a:t>Learning Resource Agent</a:t>
            </a:r>
            <a:r>
              <a:rPr lang="en-US" sz="1800" dirty="0"/>
              <a:t> retrieves and summarizes study material using RAG. </a:t>
            </a:r>
          </a:p>
          <a:p>
            <a:r>
              <a:rPr lang="en-US" sz="1800" b="1" dirty="0"/>
              <a:t>Study Recommendation Agent</a:t>
            </a:r>
            <a:r>
              <a:rPr lang="en-US" sz="1800" dirty="0"/>
              <a:t> creates personalized study plans based on syllabus, weak areas, and goals. </a:t>
            </a:r>
          </a:p>
          <a:p>
            <a:r>
              <a:rPr lang="en-US" sz="1800" b="1" dirty="0"/>
              <a:t>Predictive Learning Agent</a:t>
            </a:r>
            <a:r>
              <a:rPr lang="en-US" sz="1800" dirty="0"/>
              <a:t> identifies important topics, predicts weak areas, and provides revision suggestions. </a:t>
            </a:r>
          </a:p>
          <a:p>
            <a:r>
              <a:rPr lang="en-US" sz="1800" b="1" dirty="0"/>
              <a:t>Study Progress Agent</a:t>
            </a:r>
            <a:r>
              <a:rPr lang="en-US" sz="1800" dirty="0"/>
              <a:t> tracks quizzes, learning progress, and provides actionable feedback. </a:t>
            </a:r>
          </a:p>
          <a:p>
            <a:r>
              <a:rPr lang="en-US" sz="1800" dirty="0"/>
              <a:t>The solution includes a </a:t>
            </a:r>
            <a:r>
              <a:rPr lang="en-US" sz="1800" b="1" dirty="0"/>
              <a:t>user-friendly dashboard</a:t>
            </a:r>
            <a:r>
              <a:rPr lang="en-US" sz="1800" dirty="0"/>
              <a:t> that displays study progress, personalized plans, flashcards, summaries, and performance analytics.</a:t>
            </a:r>
          </a:p>
          <a:p>
            <a:r>
              <a:rPr lang="en-US" sz="1800" b="1" dirty="0"/>
              <a:t>IBM </a:t>
            </a:r>
            <a:r>
              <a:rPr lang="en-US" sz="1800" b="1" dirty="0" err="1"/>
              <a:t>LangFlow</a:t>
            </a:r>
            <a:r>
              <a:rPr lang="en-US" sz="1800" dirty="0"/>
              <a:t> manages the agent workflow, </a:t>
            </a:r>
            <a:r>
              <a:rPr lang="en-US" sz="1800" b="1" dirty="0"/>
              <a:t>watsonx.ai</a:t>
            </a:r>
            <a:r>
              <a:rPr lang="en-US" sz="1800" dirty="0"/>
              <a:t> provides AI services and governance, </a:t>
            </a:r>
            <a:r>
              <a:rPr lang="en-US" sz="1800" b="1" dirty="0"/>
              <a:t>Granite Models</a:t>
            </a:r>
            <a:r>
              <a:rPr lang="en-US" sz="1800" dirty="0"/>
              <a:t> power summarization and recommendations, while </a:t>
            </a:r>
            <a:r>
              <a:rPr lang="en-US" sz="1800" b="1" dirty="0"/>
              <a:t>IBM Orchestrate</a:t>
            </a:r>
            <a:r>
              <a:rPr lang="en-US" sz="1800" dirty="0"/>
              <a:t> automates study reminders and learning workflows.</a:t>
            </a:r>
          </a:p>
          <a:p>
            <a:r>
              <a:rPr lang="en-US" sz="1800" dirty="0"/>
              <a:t>Overall, this solution delivers an </a:t>
            </a:r>
            <a:r>
              <a:rPr lang="en-US" sz="1800" b="1" dirty="0"/>
              <a:t>end-to-end intelligent study assistant</a:t>
            </a:r>
            <a:r>
              <a:rPr lang="en-US" sz="1800" dirty="0"/>
              <a:t> that transforms scattered study resources into personalized learning through AI-powered summarization, adaptive study planning, and real-time progress tracking.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0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60631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>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</a:t>
            </a:r>
            <a:r>
              <a:rPr lang="en-US" sz="1800" dirty="0" err="1"/>
              <a:t>embeddings</a:t>
            </a:r>
            <a:r>
              <a:rPr lang="en-US" sz="1800" dirty="0"/>
              <a:t>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(FAISS/Chroma) – For RAG-based nutritional data </a:t>
            </a:r>
            <a:r>
              <a:rPr lang="en-IN" sz="1800" dirty="0" smtClean="0"/>
              <a:t>retrieval</a:t>
            </a:r>
            <a:br>
              <a:rPr lang="en-IN" sz="1800" dirty="0" smtClean="0"/>
            </a:b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Langflow</a:t>
            </a:r>
            <a:r>
              <a:rPr lang="en-US" sz="1800" b="1" dirty="0"/>
              <a:t> / IBM Orchestrate + IBM Models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 err="1">
                <a:sym typeface="Times New Roman"/>
              </a:rPr>
              <a:t>Langflow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sym typeface="Times New Roman"/>
              </a:rPr>
              <a:t>component Used </a:t>
            </a:r>
            <a:r>
              <a:rPr lang="en-US" sz="2800" b="1" dirty="0" smtClean="0">
                <a:sym typeface="Times New Roman"/>
              </a:rPr>
              <a:t>-</a:t>
            </a:r>
            <a:endParaRPr sz="28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1127347"/>
            <a:ext cx="882396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1</a:t>
            </a:r>
            <a:r>
              <a:rPr lang="en-IN" sz="2000" b="1" dirty="0"/>
              <a:t>) Chat Input</a:t>
            </a:r>
            <a:r>
              <a:rPr lang="en-IN" sz="2000" dirty="0"/>
              <a:t> – Interface where students upload queries, notes, PDFs, textbook images, or voice input.</a:t>
            </a:r>
          </a:p>
          <a:p>
            <a:r>
              <a:rPr lang="en-IN" sz="2000" b="1" dirty="0"/>
              <a:t>2) IBM </a:t>
            </a:r>
            <a:r>
              <a:rPr lang="en-IN" sz="2000" b="1" dirty="0" err="1"/>
              <a:t>watsonx</a:t>
            </a:r>
            <a:r>
              <a:rPr lang="en-IN" sz="2000" b="1" dirty="0"/>
              <a:t> AI Agent</a:t>
            </a:r>
            <a:r>
              <a:rPr lang="en-IN" sz="2000" dirty="0"/>
              <a:t> – Processes user input using IBM Granite models to generate summaries, flashcards, concept maps, and study recommendations.</a:t>
            </a:r>
          </a:p>
          <a:p>
            <a:r>
              <a:rPr lang="en-IN" sz="2000" b="1" dirty="0"/>
              <a:t>3) IBM Granite Model</a:t>
            </a:r>
            <a:r>
              <a:rPr lang="en-IN" sz="2000" dirty="0"/>
              <a:t> – </a:t>
            </a:r>
            <a:r>
              <a:rPr lang="en-IN" sz="2000" b="1" dirty="0"/>
              <a:t>Granite-4.0-8B-Instruct</a:t>
            </a:r>
            <a:r>
              <a:rPr lang="en-IN" sz="2000" dirty="0"/>
              <a:t> → Fast and efficient for summarization, question answering, and personalized study planning.</a:t>
            </a:r>
          </a:p>
          <a:p>
            <a:r>
              <a:rPr lang="en-IN" sz="2000" b="1" dirty="0"/>
              <a:t>4) Chat Output</a:t>
            </a:r>
            <a:r>
              <a:rPr lang="en-IN" sz="2000" dirty="0"/>
              <a:t> – Displays AI-generated summaries, flashcards, concept maps, personalized study plans, and learning insights.</a:t>
            </a:r>
          </a:p>
          <a:p>
            <a:r>
              <a:rPr lang="en-IN" sz="2000" b="1" dirty="0"/>
              <a:t>5) File Component</a:t>
            </a:r>
            <a:r>
              <a:rPr lang="en-IN" sz="2000" dirty="0"/>
              <a:t> – Stores and retrieves lecture notes, textbooks, PDFs, research papers, and other study resources for RAG-based retrieval.</a:t>
            </a:r>
          </a:p>
          <a:p>
            <a:r>
              <a:rPr lang="en-IN" sz="2000" b="1" dirty="0"/>
              <a:t>6) Vector Store (Knowledge Base)</a:t>
            </a:r>
            <a:r>
              <a:rPr lang="en-IN" sz="2000" dirty="0"/>
              <a:t> – Stores </a:t>
            </a:r>
            <a:r>
              <a:rPr lang="en-IN" sz="2000" dirty="0" err="1"/>
              <a:t>embeddings</a:t>
            </a:r>
            <a:r>
              <a:rPr lang="en-IN" sz="2000" dirty="0"/>
              <a:t> of study materials, enabling fast semantic search and accurate Retrieval-Augmented Generation (RAG).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/>
          </a:p>
        </p:txBody>
      </p:sp>
      <p:sp>
        <p:nvSpPr>
          <p:cNvPr id="4" name="AutoShape 2" descr="Smart study generator architecture diagram"/>
          <p:cNvSpPr>
            <a:spLocks noChangeAspect="1" noChangeArrowheads="1"/>
          </p:cNvSpPr>
          <p:nvPr/>
        </p:nvSpPr>
        <p:spPr bwMode="auto">
          <a:xfrm>
            <a:off x="2632393" y="3127057"/>
            <a:ext cx="266382" cy="26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Smart study generator architecture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80" y="717021"/>
            <a:ext cx="10193020" cy="61409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the Solution</a:t>
            </a:r>
          </a:p>
          <a:p>
            <a:r>
              <a:rPr lang="en-US" b="1" dirty="0"/>
              <a:t>Agentic AI in Smart Study Generator Agent</a:t>
            </a:r>
          </a:p>
          <a:p>
            <a:r>
              <a:rPr lang="en-US" dirty="0"/>
              <a:t>The proposed </a:t>
            </a:r>
            <a:r>
              <a:rPr lang="en-US" b="1" dirty="0"/>
              <a:t>Smart Study Generator Agent</a:t>
            </a:r>
            <a:r>
              <a:rPr lang="en-US" dirty="0"/>
              <a:t> leverages </a:t>
            </a:r>
            <a:r>
              <a:rPr lang="en-US" b="1" dirty="0"/>
              <a:t>Agentic AI, Retrieval-Augmented Generation (RAG), and IBM Granite Models</a:t>
            </a:r>
            <a:r>
              <a:rPr lang="en-US" dirty="0"/>
              <a:t> to deliver an intelligent and personalized learning experience.</a:t>
            </a:r>
          </a:p>
          <a:p>
            <a:r>
              <a:rPr lang="en-US" b="1" dirty="0"/>
              <a:t>Multi-Agent Intelligence</a:t>
            </a:r>
            <a:r>
              <a:rPr lang="en-US" dirty="0"/>
              <a:t> – Specialized AI agents collaborate to retrieve study materials, generate summaries, recommend study plans, predict weak areas, and track learning progress.</a:t>
            </a:r>
          </a:p>
          <a:p>
            <a:r>
              <a:rPr lang="en-US" b="1" dirty="0"/>
              <a:t>RAG-Based Learning</a:t>
            </a:r>
            <a:r>
              <a:rPr lang="en-US" dirty="0"/>
              <a:t> – Retrieves accurate and relevant content from lecture notes, textbooks, research papers, and online resources, ensuring reliable AI-generated responses.</a:t>
            </a:r>
          </a:p>
          <a:p>
            <a:r>
              <a:rPr lang="en-US" b="1" dirty="0"/>
              <a:t>Personalized Study Plans</a:t>
            </a:r>
            <a:r>
              <a:rPr lang="en-US" dirty="0"/>
              <a:t> – Creates adaptive study schedules based on syllabus, learning pace, exam dates, weak topics, and individual learning goals.</a:t>
            </a:r>
          </a:p>
          <a:p>
            <a:r>
              <a:rPr lang="en-US" b="1" dirty="0"/>
              <a:t>Multi-Modal Input</a:t>
            </a:r>
            <a:r>
              <a:rPr lang="en-US" dirty="0"/>
              <a:t> – Supports text, voice, PDFs, images, and handwritten notes for flexible learning.</a:t>
            </a:r>
          </a:p>
          <a:p>
            <a:r>
              <a:rPr lang="en-US" b="1" dirty="0"/>
              <a:t>Predictive Learning</a:t>
            </a:r>
            <a:r>
              <a:rPr lang="en-US" dirty="0"/>
              <a:t> – Identifies important topics, predicts weak areas, and recommends revision strategies based on student performance.</a:t>
            </a:r>
          </a:p>
          <a:p>
            <a:r>
              <a:rPr lang="en-US" b="1" dirty="0"/>
              <a:t>Real-Time Progress Tracking</a:t>
            </a:r>
            <a:r>
              <a:rPr lang="en-US" dirty="0"/>
              <a:t> – Continuously monitors quizzes, study progress, and milestones while providing actionable feedback and analytics.</a:t>
            </a:r>
          </a:p>
          <a:p>
            <a:r>
              <a:rPr lang="en-US" b="1" dirty="0"/>
              <a:t>Scalable &amp; Enterprise-Ready</a:t>
            </a:r>
            <a:r>
              <a:rPr lang="en-US" dirty="0"/>
              <a:t> – Powered by </a:t>
            </a:r>
            <a:r>
              <a:rPr lang="en-US" b="1" dirty="0"/>
              <a:t>IBM watsonx.ai</a:t>
            </a:r>
            <a:r>
              <a:rPr lang="en-US" dirty="0"/>
              <a:t>, </a:t>
            </a:r>
            <a:r>
              <a:rPr lang="en-US" b="1" dirty="0"/>
              <a:t>IBM Granite Models</a:t>
            </a:r>
            <a:r>
              <a:rPr lang="en-US" dirty="0"/>
              <a:t>, </a:t>
            </a:r>
            <a:r>
              <a:rPr lang="en-US" b="1" dirty="0" err="1"/>
              <a:t>LangFlow</a:t>
            </a:r>
            <a:r>
              <a:rPr lang="en-US" dirty="0"/>
              <a:t>, and </a:t>
            </a:r>
            <a:r>
              <a:rPr lang="en-US" b="1" dirty="0"/>
              <a:t>IBM Orchestrate</a:t>
            </a:r>
            <a:r>
              <a:rPr lang="en-US" dirty="0"/>
              <a:t> for secure, scalable, and efficient AI workflows.</a:t>
            </a:r>
          </a:p>
          <a:p>
            <a:r>
              <a:rPr lang="en-US" b="1" dirty="0"/>
              <a:t>Result:</a:t>
            </a:r>
            <a:r>
              <a:rPr lang="en-US" dirty="0"/>
              <a:t> A </a:t>
            </a:r>
            <a:r>
              <a:rPr lang="en-US" b="1" dirty="0"/>
              <a:t>smart, adaptive, and AI-powered study assistant</a:t>
            </a:r>
            <a:r>
              <a:rPr lang="en-US" dirty="0"/>
              <a:t> that goes beyond static learning tools by providing personalized guidance, intelligent recommendations, and real-time progress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After the Prompt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340" y="2118177"/>
            <a:ext cx="6305874" cy="36831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24" y="2118177"/>
            <a:ext cx="4858000" cy="361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proposed Nutrition Agent stands out by combining </a:t>
            </a:r>
            <a:r>
              <a:rPr lang="en-IN" sz="1800" b="1" dirty="0"/>
              <a:t>Agentic AI, RAG, and personalization</a:t>
            </a:r>
            <a:r>
              <a:rPr lang="en-IN" sz="1800" dirty="0"/>
              <a:t> into a single intelligent system.</a:t>
            </a:r>
          </a:p>
          <a:p>
            <a:endParaRPr lang="en-IN" sz="1800" dirty="0"/>
          </a:p>
          <a:p>
            <a:r>
              <a:rPr lang="en-IN" sz="1800" b="1" dirty="0"/>
              <a:t>Multi-Agent Intelligence</a:t>
            </a:r>
            <a:r>
              <a:rPr lang="en-IN" sz="1800" dirty="0"/>
              <a:t> – Instead of a single </a:t>
            </a:r>
            <a:r>
              <a:rPr lang="en-IN" sz="1800" dirty="0" err="1"/>
              <a:t>chatbot</a:t>
            </a:r>
            <a:r>
              <a:rPr lang="en-IN" sz="1800" dirty="0"/>
              <a:t>, multiple specialized agents collaborate to deliver accurate and context-aware nutrition guidance. </a:t>
            </a:r>
          </a:p>
          <a:p>
            <a:r>
              <a:rPr lang="en-IN" sz="1800" b="1" dirty="0"/>
              <a:t>RAG-Based Accuracy</a:t>
            </a:r>
            <a:r>
              <a:rPr lang="en-IN" sz="1800" dirty="0"/>
              <a:t> – Integrates real-time data retrieval with AI generation, reducing misinformation and ensuring trustworthy recommendations. </a:t>
            </a:r>
          </a:p>
          <a:p>
            <a:r>
              <a:rPr lang="en-IN" sz="1800" b="1" dirty="0"/>
              <a:t>Hyper-Personalization</a:t>
            </a:r>
            <a:r>
              <a:rPr lang="en-IN" sz="1800" dirty="0"/>
              <a:t> – Tailors diet plans based on health conditions, cultural preferences, and fitness goals. </a:t>
            </a:r>
          </a:p>
          <a:p>
            <a:r>
              <a:rPr lang="en-IN" sz="1800" b="1" dirty="0"/>
              <a:t>Real-Time Feedback Loop</a:t>
            </a:r>
            <a:r>
              <a:rPr lang="en-IN" sz="1800" dirty="0"/>
              <a:t> – Continuously adapts recommendations based on daily food logs and user </a:t>
            </a:r>
            <a:r>
              <a:rPr lang="en-IN" sz="1800" dirty="0" err="1"/>
              <a:t>behavior</a:t>
            </a:r>
            <a:r>
              <a:rPr lang="en-IN" sz="1800" dirty="0"/>
              <a:t>. </a:t>
            </a:r>
          </a:p>
          <a:p>
            <a:r>
              <a:rPr lang="en-IN" sz="1800" b="1" dirty="0"/>
              <a:t>Multi-Modal Input</a:t>
            </a:r>
            <a:r>
              <a:rPr lang="en-IN" sz="1800" dirty="0"/>
              <a:t> – Supports text, voice, and image-based meal tracking for better usability. </a:t>
            </a:r>
          </a:p>
          <a:p>
            <a:r>
              <a:rPr lang="en-IN" sz="1800" b="1" dirty="0"/>
              <a:t>Preventive Healthcare Focus</a:t>
            </a:r>
            <a:r>
              <a:rPr lang="en-IN" sz="1800" dirty="0"/>
              <a:t> – Goes beyond diet planning to provide disease-specific nutrition advice. </a:t>
            </a:r>
          </a:p>
          <a:p>
            <a:r>
              <a:rPr lang="en-IN" sz="1800" b="1" dirty="0"/>
              <a:t>Scalable &amp; Enterprise-Ready</a:t>
            </a:r>
            <a:r>
              <a:rPr lang="en-IN" sz="1800" dirty="0"/>
              <a:t> – Built on </a:t>
            </a:r>
            <a:r>
              <a:rPr lang="en-IN" sz="1800" b="1" dirty="0"/>
              <a:t>IBM watsonx.ai</a:t>
            </a:r>
            <a:r>
              <a:rPr lang="en-IN" sz="1800" dirty="0"/>
              <a:t> with </a:t>
            </a:r>
            <a:r>
              <a:rPr lang="en-IN" sz="1800" b="1" dirty="0"/>
              <a:t>IBM Granite models</a:t>
            </a:r>
            <a:r>
              <a:rPr lang="en-IN" sz="1800" dirty="0"/>
              <a:t>, ensuring reliability and governance. </a:t>
            </a:r>
          </a:p>
          <a:p>
            <a:endParaRPr lang="en-IN" sz="1800" dirty="0"/>
          </a:p>
          <a:p>
            <a:r>
              <a:rPr lang="en-IN" sz="1800" dirty="0"/>
              <a:t>This makes the solution a </a:t>
            </a:r>
            <a:r>
              <a:rPr lang="en-IN" sz="1800" b="1" dirty="0"/>
              <a:t>smart, adaptive, and proactive digital nutritionist</a:t>
            </a:r>
            <a:r>
              <a:rPr lang="en-IN" sz="1800" dirty="0"/>
              <a:t>, not just a static diet </a:t>
            </a:r>
            <a:r>
              <a:rPr lang="en-IN" sz="1800" dirty="0" smtClean="0"/>
              <a:t>recommendation </a:t>
            </a:r>
            <a:r>
              <a:rPr lang="en-IN" sz="1800" dirty="0"/>
              <a:t>tool.</a:t>
            </a:r>
            <a:endParaRPr lang="en-US" dirty="0"/>
          </a:p>
          <a:p>
            <a:r>
              <a:rPr lang="en-US" dirty="0" smtClean="0"/>
              <a:t>change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Git</a:t>
            </a:r>
            <a:r>
              <a:rPr lang="en-US" sz="2400" b="1" dirty="0">
                <a:sym typeface="Times New Roman"/>
              </a:rPr>
              <a:t>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911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and Paste the working  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https://github.com/Saya1i/projectibm.git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b="1" dirty="0" smtClean="0"/>
              <a:t>1</a:t>
            </a:r>
            <a:r>
              <a:rPr lang="en-US" sz="2000" b="1" dirty="0"/>
              <a:t>. AI Tutor &amp; Doubt Solving</a:t>
            </a:r>
          </a:p>
          <a:p>
            <a:r>
              <a:rPr lang="en-US" sz="2000" dirty="0"/>
              <a:t>Enhance the system with an AI tutor that provides real-time doubt resolution, explains difficult concepts, and generates practice questions with detailed solutions to improve learning outcomes.</a:t>
            </a:r>
          </a:p>
          <a:p>
            <a:r>
              <a:rPr lang="en-US" sz="2000" b="1" dirty="0"/>
              <a:t>2. Voice Assistant &amp; Multilingual Support</a:t>
            </a:r>
          </a:p>
          <a:p>
            <a:r>
              <a:rPr lang="en-US" sz="2000" dirty="0"/>
              <a:t>Integrate a voice-enabled assistant with multilingual capabilities, allowing students to interact naturally in their preferred language and making the platform more accessible and inclusive.</a:t>
            </a:r>
          </a:p>
          <a:p>
            <a:r>
              <a:rPr lang="en-US" sz="2000" b="1" dirty="0"/>
              <a:t>3. LMS &amp; Cloud Integration</a:t>
            </a:r>
          </a:p>
          <a:p>
            <a:r>
              <a:rPr lang="en-US" sz="2000" dirty="0"/>
              <a:t>Integrate with Learning Management Systems (LMS) such as Moodle, Google Classroom, and Microsoft Teams to automatically import study materials, assignments, and deadlines for seamless learning.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213281"/>
            <a:ext cx="7569200" cy="542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680" y="1300479"/>
            <a:ext cx="8463280" cy="504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1143</Words>
  <Application>Microsoft Office PowerPoint</Application>
  <PresentationFormat>Widescreen</PresentationFormat>
  <Paragraphs>105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Shree</cp:lastModifiedBy>
  <cp:revision>23</cp:revision>
  <dcterms:created xsi:type="dcterms:W3CDTF">2025-07-08T05:06:56Z</dcterms:created>
  <dcterms:modified xsi:type="dcterms:W3CDTF">2026-07-18T02:45:55Z</dcterms:modified>
</cp:coreProperties>
</file>